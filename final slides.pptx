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14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607" y="104421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MIPS-Based Caesar Cipher System </a:t>
            </a:r>
            <a:r>
              <a:rPr lang="en-US" sz="440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Encryption &amp; Decryption </a:t>
            </a:r>
            <a:endParaRPr lang="en-US" sz="4400" dirty="0"/>
          </a:p>
          <a:p>
            <a:pPr marL="0" indent="0" algn="l">
              <a:lnSpc>
                <a:spcPts val="5500"/>
              </a:lnSpc>
              <a:buNone/>
            </a:pPr>
            <a:endParaRPr lang="en-US" sz="44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0CF7A6B-F576-ECDC-8430-FFE4A12AD471}"/>
              </a:ext>
            </a:extLst>
          </p:cNvPr>
          <p:cNvSpPr txBox="1"/>
          <p:nvPr/>
        </p:nvSpPr>
        <p:spPr>
          <a:xfrm>
            <a:off x="912125" y="3890257"/>
            <a:ext cx="73286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  <a:t>                              Group members</a:t>
            </a:r>
            <a:b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</a:br>
            <a:endParaRPr lang="en-US" sz="3200" dirty="0">
              <a:solidFill>
                <a:srgbClr val="FFFFFF"/>
              </a:solidFill>
              <a:latin typeface="Calibri" pitchFamily="34" charset="0"/>
              <a:ea typeface="Unbounded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  <a:t>Saif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  <a:t>Hassan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  <a:t>Saud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  <a:t>Asad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</a:rPr>
              <a:t>Salman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8327"/>
            <a:ext cx="92117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What is the Caesar Cipher?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76701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230517"/>
            <a:ext cx="4831556" cy="4831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086BE2-6A06-A98D-685E-4260DBCD689E}"/>
              </a:ext>
            </a:extLst>
          </p:cNvPr>
          <p:cNvSpPr txBox="1"/>
          <p:nvPr/>
        </p:nvSpPr>
        <p:spPr>
          <a:xfrm>
            <a:off x="762000" y="2559725"/>
            <a:ext cx="7315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AD6DE"/>
                </a:solidFill>
                <a:latin typeface="Calibri" pitchFamily="34" charset="0"/>
              </a:rPr>
              <a:t>The Caesar Cipher is a simple encryption method where each letter in a message is shifted forward by a fixed number of positions in the alphabet.</a:t>
            </a:r>
          </a:p>
          <a:p>
            <a:endParaRPr lang="en-US" sz="2000" dirty="0">
              <a:solidFill>
                <a:srgbClr val="CAD6DE"/>
              </a:solidFill>
              <a:latin typeface="Calibri" pitchFamily="34" charset="0"/>
            </a:endParaRPr>
          </a:p>
          <a:p>
            <a:endParaRPr lang="en-US" sz="2000" dirty="0">
              <a:solidFill>
                <a:srgbClr val="CAD6DE"/>
              </a:solidFill>
              <a:latin typeface="Calibri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AD6DE"/>
                </a:solidFill>
                <a:latin typeface="Calibri" pitchFamily="34" charset="0"/>
              </a:rPr>
              <a:t>Only letters are encrypted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AD6DE"/>
                </a:solidFill>
                <a:latin typeface="Calibri" pitchFamily="34" charset="0"/>
              </a:rPr>
              <a:t>Uppercase stays uppercase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AD6DE"/>
                </a:solidFill>
                <a:latin typeface="Calibri" pitchFamily="34" charset="0"/>
              </a:rPr>
              <a:t>Lowercase stays lowercase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AD6DE"/>
                </a:solidFill>
                <a:latin typeface="Calibri" pitchFamily="34" charset="0"/>
              </a:rPr>
              <a:t>Numbers, spaces, and symbols are not changed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73F536-C495-6B0D-3861-84516CE7D54E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597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695" y="3655100"/>
            <a:ext cx="13029009" cy="1345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Implementing Caesar Cipher in MIPS Assembly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70215" y="5343882"/>
            <a:ext cx="4190524" cy="2090380"/>
          </a:xfrm>
          <a:prstGeom prst="roundRect">
            <a:avLst>
              <a:gd name="adj" fmla="val 6999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770215" y="5343882"/>
            <a:ext cx="121920" cy="2090380"/>
          </a:xfrm>
          <a:prstGeom prst="roundRect">
            <a:avLst>
              <a:gd name="adj" fmla="val 2814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51334" y="5603081"/>
            <a:ext cx="26915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Input Handling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51334" y="6076712"/>
            <a:ext cx="3580686" cy="954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Reads a string from the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Stores it in memory</a:t>
            </a:r>
          </a:p>
        </p:txBody>
      </p:sp>
      <p:sp>
        <p:nvSpPr>
          <p:cNvPr id="8" name="Shape 5"/>
          <p:cNvSpPr/>
          <p:nvPr/>
        </p:nvSpPr>
        <p:spPr>
          <a:xfrm>
            <a:off x="5230415" y="5343882"/>
            <a:ext cx="4190524" cy="2090380"/>
          </a:xfrm>
          <a:prstGeom prst="roundRect">
            <a:avLst>
              <a:gd name="adj" fmla="val 6999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189458" y="5343882"/>
            <a:ext cx="121920" cy="2090380"/>
          </a:xfrm>
          <a:prstGeom prst="roundRect">
            <a:avLst>
              <a:gd name="adj" fmla="val 2814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570577" y="5491044"/>
            <a:ext cx="3510201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Character Processing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570576" y="5893652"/>
            <a:ext cx="3748447" cy="140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Check uppercase/lowercase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Encrypts only letters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Wraps around alphabet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Leaves non-letters unchanged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39181" y="5343882"/>
            <a:ext cx="4190524" cy="2090380"/>
          </a:xfrm>
          <a:prstGeom prst="roundRect">
            <a:avLst>
              <a:gd name="adj" fmla="val 6999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9608701" y="5343882"/>
            <a:ext cx="121920" cy="2090380"/>
          </a:xfrm>
          <a:prstGeom prst="roundRect">
            <a:avLst>
              <a:gd name="adj" fmla="val 2814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9989820" y="5603081"/>
            <a:ext cx="3036332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Output Generation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989820" y="6076712"/>
            <a:ext cx="3580686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Encrypted or decrypted string, non-alphabet characters unchanged.</a:t>
            </a:r>
            <a:endParaRPr lang="en-US" sz="1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0AC843-6BE0-8D2D-C152-B329DE9D5E83}"/>
              </a:ext>
            </a:extLst>
          </p:cNvPr>
          <p:cNvSpPr/>
          <p:nvPr/>
        </p:nvSpPr>
        <p:spPr>
          <a:xfrm>
            <a:off x="12491983" y="7571422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200" y="506968"/>
            <a:ext cx="13141047" cy="54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MIPS Code Example: Encrypting a Single Character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5200" y="1509832"/>
            <a:ext cx="2168843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Steps: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5200" y="1965246"/>
            <a:ext cx="64450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Load character ASCII into register ($t0)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5200" y="2324457"/>
            <a:ext cx="64450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Check if uppercase (1-25) or lowercase (1-25)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5200" y="2683669"/>
            <a:ext cx="64450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Add key (e.g., 5) to ASCII value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5200" y="3042880"/>
            <a:ext cx="64450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Wrap if beyond 'Z' or 'z' 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5200" y="3402092"/>
            <a:ext cx="64450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Store encrypted character back to buffer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5EAA3B-BE6B-6B5F-6A51-5AAEDCD49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91" y="1645384"/>
            <a:ext cx="7106613" cy="539520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F0AC843-6BE0-8D2D-C152-B329DE9D5E83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2355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Program Counter (PC) Control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327315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in Caesar Cipher MIPS Program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897" y="3820299"/>
            <a:ext cx="358973" cy="3589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1959" y="3812858"/>
            <a:ext cx="334577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Sequential Advance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01959" y="430839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PC moves through instructions in order.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897" y="5177611"/>
            <a:ext cx="358973" cy="3589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01959" y="5170170"/>
            <a:ext cx="372582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Conditional Branching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101959" y="5665708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3C5B6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bgt, blt</a:t>
            </a: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 for case checks and wrap-around logic.</a:t>
            </a:r>
            <a:endParaRPr lang="en-US" sz="1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897" y="6534924"/>
            <a:ext cx="358973" cy="3589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01959" y="6527483"/>
            <a:ext cx="30865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Jump Instructions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101959" y="702302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3C5B6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jal</a:t>
            </a: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 for subroutine calls (e.g., case checking).</a:t>
            </a:r>
            <a:endParaRPr lang="en-US" sz="185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143E6F-ADBE-B37B-02B5-EA7A9A33A13C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789" y="473512"/>
            <a:ext cx="5534501" cy="50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Pipeline Stages in MIPS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0789" y="1047036"/>
            <a:ext cx="5385078" cy="40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for Caesar Cipher Execution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03770" y="1708309"/>
            <a:ext cx="22860" cy="5125283"/>
          </a:xfrm>
          <a:prstGeom prst="roundRect">
            <a:avLst>
              <a:gd name="adj" fmla="val 112643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994803" y="1889998"/>
            <a:ext cx="343257" cy="22860"/>
          </a:xfrm>
          <a:prstGeom prst="roundRect">
            <a:avLst>
              <a:gd name="adj" fmla="val 112643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250847" y="1837075"/>
            <a:ext cx="128707" cy="128707"/>
          </a:xfrm>
          <a:prstGeom prst="roundRect">
            <a:avLst>
              <a:gd name="adj" fmla="val 35522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61353" y="1767245"/>
            <a:ext cx="246721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Instruction Fetch (IF)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00789" y="2122646"/>
            <a:ext cx="60277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Fetch instruction using PC.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92340" y="2919889"/>
            <a:ext cx="343257" cy="22860"/>
          </a:xfrm>
          <a:prstGeom prst="roundRect">
            <a:avLst>
              <a:gd name="adj" fmla="val 112643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250847" y="2866965"/>
            <a:ext cx="128707" cy="128707"/>
          </a:xfrm>
          <a:prstGeom prst="roundRect">
            <a:avLst>
              <a:gd name="adj" fmla="val 35522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001833" y="2797135"/>
            <a:ext cx="272831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Instruction Decode (ID)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001833" y="3152537"/>
            <a:ext cx="60277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Decode instruction, read registers.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4803" y="3807619"/>
            <a:ext cx="343257" cy="22860"/>
          </a:xfrm>
          <a:prstGeom prst="roundRect">
            <a:avLst>
              <a:gd name="adj" fmla="val 112643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250847" y="3754695"/>
            <a:ext cx="128707" cy="128707"/>
          </a:xfrm>
          <a:prstGeom prst="roundRect">
            <a:avLst>
              <a:gd name="adj" fmla="val 35522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9028" y="3684865"/>
            <a:ext cx="201953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Execute (EX)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00789" y="4040267"/>
            <a:ext cx="60277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Perform arithmetic, branch decisions.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92340" y="4695349"/>
            <a:ext cx="343257" cy="22860"/>
          </a:xfrm>
          <a:prstGeom prst="roundRect">
            <a:avLst>
              <a:gd name="adj" fmla="val 112643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50847" y="4642425"/>
            <a:ext cx="128707" cy="128707"/>
          </a:xfrm>
          <a:prstGeom prst="roundRect">
            <a:avLst>
              <a:gd name="adj" fmla="val 35522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01833" y="4572595"/>
            <a:ext cx="275986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Memory Access (MEM)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001833" y="4927997"/>
            <a:ext cx="60277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Load/store characters.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94803" y="5583079"/>
            <a:ext cx="343257" cy="22860"/>
          </a:xfrm>
          <a:prstGeom prst="roundRect">
            <a:avLst>
              <a:gd name="adj" fmla="val 112643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250847" y="5530155"/>
            <a:ext cx="128707" cy="128707"/>
          </a:xfrm>
          <a:prstGeom prst="roundRect">
            <a:avLst>
              <a:gd name="adj" fmla="val 35522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09028" y="5460325"/>
            <a:ext cx="201953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Write Back (WB)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00789" y="5815727"/>
            <a:ext cx="602777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Write results to registers.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0789" y="7026712"/>
            <a:ext cx="13428821" cy="729258"/>
          </a:xfrm>
          <a:prstGeom prst="roundRect">
            <a:avLst>
              <a:gd name="adj" fmla="val 3531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58" y="7289125"/>
            <a:ext cx="214551" cy="17156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58478" y="7241143"/>
            <a:ext cx="1269956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Pipeline hazards managed by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nop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 after branches.</a:t>
            </a:r>
            <a:endParaRPr lang="en-US" sz="135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731E5FE-8936-AD39-808C-0A799D97697E}"/>
              </a:ext>
            </a:extLst>
          </p:cNvPr>
          <p:cNvSpPr/>
          <p:nvPr/>
        </p:nvSpPr>
        <p:spPr>
          <a:xfrm>
            <a:off x="12555417" y="7730251"/>
            <a:ext cx="2157045" cy="56566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510064"/>
            <a:ext cx="7728466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Stack Usage in Caesar Cipher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9129" y="1129784"/>
            <a:ext cx="3491508" cy="43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MIPS Program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9129" y="2011323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Stores return addresses for subroutines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9129" y="2372916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Preserves local variables and saved registers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129" y="2734508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$sp adjusted on function entry/exit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9129" y="3198138"/>
            <a:ext cx="643985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Enables modular code and recursion-safe execution.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393" y="510064"/>
            <a:ext cx="6439853" cy="643985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9A3B83D-5FA1-0875-F182-D67CEA59890C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057" y="509707"/>
            <a:ext cx="10244614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Encryption &amp; Decryption Flow Overview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7" y="1424464"/>
            <a:ext cx="555427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8626" y="1609606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User Prompt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88626" y="1992987"/>
            <a:ext cx="12593717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Encrypt (E) or Decrypt (D) selection.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11" y="2720578"/>
            <a:ext cx="555427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6280" y="2905720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Input Acquisition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66280" y="3289102"/>
            <a:ext cx="1231606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Plaintext/ciphertext string and key.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84" y="4016693"/>
            <a:ext cx="555427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44053" y="4201835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Character Loop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944053" y="4585216"/>
            <a:ext cx="120382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Process each character individually.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257" y="5312807"/>
            <a:ext cx="555427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21825" y="5497949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Shift &amp; Wrap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2221825" y="5881330"/>
            <a:ext cx="1176051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Apply shift (forward/backward), handle wrap-around.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84" y="6608921"/>
            <a:ext cx="555427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44053" y="6794063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Output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944053" y="7177445"/>
            <a:ext cx="1203829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Print transformed character.</a:t>
            </a:r>
            <a:endParaRPr lang="en-US" sz="14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E841B3-BA36-89C0-16F5-8FF60C08AD99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9114" y="1087160"/>
            <a:ext cx="7114699" cy="889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Calibri" pitchFamily="34" charset="0"/>
              </a:rPr>
              <a:t>Pipeline Stages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29114" y="2203252"/>
            <a:ext cx="604718" cy="907018"/>
          </a:xfrm>
          <a:prstGeom prst="roundRect">
            <a:avLst>
              <a:gd name="adj" fmla="val 36002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8066" y="2515076"/>
            <a:ext cx="22669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226820" y="2347676"/>
            <a:ext cx="12874467" cy="56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9114" y="3261360"/>
            <a:ext cx="604718" cy="907018"/>
          </a:xfrm>
          <a:prstGeom prst="roundRect">
            <a:avLst>
              <a:gd name="adj" fmla="val 36002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18066" y="3573185"/>
            <a:ext cx="22669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9114" y="4319468"/>
            <a:ext cx="604718" cy="907018"/>
          </a:xfrm>
          <a:prstGeom prst="roundRect">
            <a:avLst>
              <a:gd name="adj" fmla="val 36002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18066" y="4631293"/>
            <a:ext cx="22669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9114" y="5377577"/>
            <a:ext cx="604718" cy="907018"/>
          </a:xfrm>
          <a:prstGeom prst="roundRect">
            <a:avLst>
              <a:gd name="adj" fmla="val 36002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8066" y="5689402"/>
            <a:ext cx="22669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9114" y="6435685"/>
            <a:ext cx="604718" cy="907018"/>
          </a:xfrm>
          <a:prstGeom prst="roundRect">
            <a:avLst>
              <a:gd name="adj" fmla="val 36002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8066" y="6747510"/>
            <a:ext cx="22669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81EBC1-15EA-C3DC-3574-B41E61B04F15}"/>
              </a:ext>
            </a:extLst>
          </p:cNvPr>
          <p:cNvSpPr txBox="1"/>
          <p:nvPr/>
        </p:nvSpPr>
        <p:spPr>
          <a:xfrm>
            <a:off x="1727200" y="2347676"/>
            <a:ext cx="924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AD6DE"/>
                </a:solidFill>
                <a:latin typeface="Calibri" pitchFamily="34" charset="0"/>
              </a:rPr>
              <a:t>Plaintext Input: </a:t>
            </a: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Original readable data to be secured.</a:t>
            </a: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b="1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CAD6DE"/>
                </a:solidFill>
                <a:latin typeface="Calibri" pitchFamily="34" charset="0"/>
              </a:rPr>
              <a:t>Key Generation: </a:t>
            </a: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Create a secret or key pair for encryption.</a:t>
            </a: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CAD6DE"/>
                </a:solidFill>
                <a:latin typeface="Calibri" pitchFamily="34" charset="0"/>
              </a:rPr>
              <a:t>Encryption: </a:t>
            </a: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Convert plaintext into unreadable ciphertext using the key.</a:t>
            </a: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b="1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CAD6DE"/>
                </a:solidFill>
                <a:latin typeface="Calibri" pitchFamily="34" charset="0"/>
              </a:rPr>
              <a:t>Transmission/Storage: </a:t>
            </a: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Send or store the ciphertext securely.</a:t>
            </a: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endParaRPr lang="en-US" dirty="0">
              <a:solidFill>
                <a:srgbClr val="CAD6DE"/>
              </a:solidFill>
              <a:latin typeface="Calibri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CAD6DE"/>
                </a:solidFill>
                <a:latin typeface="Calibri" pitchFamily="34" charset="0"/>
              </a:rPr>
              <a:t>Decryption: </a:t>
            </a:r>
            <a:r>
              <a:rPr lang="en-US" dirty="0">
                <a:solidFill>
                  <a:srgbClr val="CAD6DE"/>
                </a:solidFill>
                <a:latin typeface="Calibri" pitchFamily="34" charset="0"/>
              </a:rPr>
              <a:t>Convert ciphertext back into original plaintext using the key.</a:t>
            </a:r>
            <a:endParaRPr lang="en-US" sz="1450" dirty="0">
              <a:solidFill>
                <a:srgbClr val="CAD6DE"/>
              </a:solidFill>
              <a:latin typeface="Calibri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2285DB-7425-B6CD-41AC-C340D37F4CD2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04280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Conclusion: MIPS Caesar Cipher System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116931" y="3491270"/>
            <a:ext cx="293120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Low-Level Crypto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986808"/>
            <a:ext cx="421040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Assembly implementation details.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266" y="4064198"/>
            <a:ext cx="336590" cy="3365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82269" y="32998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PC &amp; Pipeline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82269" y="3795355"/>
            <a:ext cx="421040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Practical demonstration of processor control.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72306" y="4064198"/>
            <a:ext cx="336590" cy="336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82269" y="593788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Stack Usage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582269" y="6433423"/>
            <a:ext cx="421040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Understanding memory management.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72306" y="5715238"/>
            <a:ext cx="336590" cy="33659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31946" y="593788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libri" pitchFamily="34" charset="0"/>
                <a:ea typeface="Unbounded" pitchFamily="34" charset="-122"/>
                <a:cs typeface="Unbounded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837724" y="6433423"/>
            <a:ext cx="421040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libri" pitchFamily="34" charset="0"/>
                <a:ea typeface="Cabin" pitchFamily="34" charset="-122"/>
                <a:cs typeface="Cabin" pitchFamily="34" charset="-120"/>
              </a:rPr>
              <a:t>Gateway to complex algorithms.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1266" y="5715238"/>
            <a:ext cx="336590" cy="33659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C3C6E8-3615-6C60-039B-78094BE5D0FE}"/>
              </a:ext>
            </a:extLst>
          </p:cNvPr>
          <p:cNvSpPr/>
          <p:nvPr/>
        </p:nvSpPr>
        <p:spPr>
          <a:xfrm>
            <a:off x="12473355" y="7590020"/>
            <a:ext cx="2157045" cy="731611"/>
          </a:xfrm>
          <a:prstGeom prst="ellipse">
            <a:avLst/>
          </a:prstGeom>
          <a:solidFill>
            <a:srgbClr val="1128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472</Words>
  <Application>Microsoft Office PowerPoint</Application>
  <PresentationFormat>Custom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Novelty</dc:creator>
  <cp:lastModifiedBy>saud ali</cp:lastModifiedBy>
  <cp:revision>4</cp:revision>
  <dcterms:created xsi:type="dcterms:W3CDTF">2025-12-21T13:04:28Z</dcterms:created>
  <dcterms:modified xsi:type="dcterms:W3CDTF">2025-12-21T14:12:08Z</dcterms:modified>
</cp:coreProperties>
</file>